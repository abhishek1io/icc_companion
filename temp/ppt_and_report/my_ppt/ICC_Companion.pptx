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0-3.svg" ContentType="image/svg+xml"/>
  <Override PartName="/ppt/media/image-10-5.svg" ContentType="image/svg+xml"/>
  <Override PartName="/ppt/media/image-10-7.svg" ContentType="image/svg+xml"/>
  <Override PartName="/ppt/media/image-11-3.svg" ContentType="image/svg+xml"/>
  <Override PartName="/ppt/media/image-11-5.svg" ContentType="image/svg+xml"/>
  <Override PartName="/ppt/media/image-2-3.svg" ContentType="image/svg+xml"/>
  <Override PartName="/ppt/media/image-2-5.svg" ContentType="image/svg+xml"/>
  <Override PartName="/ppt/media/image-4-10.svg" ContentType="image/svg+xml"/>
  <Override PartName="/ppt/media/image-4-12.svg" ContentType="image/svg+xml"/>
  <Override PartName="/ppt/media/image-4-2.svg" ContentType="image/svg+xml"/>
  <Override PartName="/ppt/media/image-4-4.svg" ContentType="image/svg+xml"/>
  <Override PartName="/ppt/media/image-4-6.svg" ContentType="image/svg+xml"/>
  <Override PartName="/ppt/media/image-4-8.svg" ContentType="image/svg+xml"/>
  <Override PartName="/ppt/media/image-5-2.svg" ContentType="image/svg+xml"/>
  <Override PartName="/ppt/media/image-5-4.svg" ContentType="image/svg+xml"/>
  <Override PartName="/ppt/media/image-5-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4630400" cy="8229600"/>
  <p:notesSz cx="8229600" cy="14630400"/>
  <p:embeddedFontLst>
    <p:embeddedFont>
      <p:font typeface="Montserrat"/>
      <p:regular r:id="rId19"/>
    </p:embeddedFont>
    <p:embeddedFont>
      <p:font typeface="Montserrat"/>
      <p:regular r:id="rId20"/>
    </p:embeddedFont>
    <p:embeddedFont>
      <p:font typeface="Montserrat"/>
      <p:regular r:id="rId21"/>
    </p:embeddedFont>
    <p:embeddedFont>
      <p:font typeface="Montserrat"/>
      <p:regular r:id="rId22"/>
    </p:embeddedFont>
    <p:embeddedFont>
      <p:font typeface="Source Sans 3"/>
      <p:regular r:id="rId23"/>
    </p:embeddedFont>
    <p:embeddedFont>
      <p:font typeface="Source Sans 3"/>
      <p:regular r:id="rId24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font" Target="fonts/font1.fntdata"/><Relationship Id="rId20" Type="http://schemas.openxmlformats.org/officeDocument/2006/relationships/font" Target="fonts/font2.fntdata"/><Relationship Id="rId21" Type="http://schemas.openxmlformats.org/officeDocument/2006/relationships/font" Target="fonts/font3.fntdata"/><Relationship Id="rId22" Type="http://schemas.openxmlformats.org/officeDocument/2006/relationships/font" Target="fonts/font4.fntdata"/><Relationship Id="rId23" Type="http://schemas.openxmlformats.org/officeDocument/2006/relationships/font" Target="fonts/font5.fntdata"/><Relationship Id="rId24" Type="http://schemas.openxmlformats.org/officeDocument/2006/relationships/font" Target="fonts/font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13-1.png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svg"/><Relationship Id="rId4" Type="http://schemas.openxmlformats.org/officeDocument/2006/relationships/image" Target="../media/image-2-4.png"/><Relationship Id="rId5" Type="http://schemas.openxmlformats.org/officeDocument/2006/relationships/image" Target="../media/image-2-5.sv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5.xml"/><Relationship Id="rId1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slideLayout" Target="../slideLayouts/slideLayout6.xml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8.xm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svg"/><Relationship Id="rId4" Type="http://schemas.openxmlformats.org/officeDocument/2006/relationships/image" Target="../media/image-10-4.png"/><Relationship Id="rId5" Type="http://schemas.openxmlformats.org/officeDocument/2006/relationships/image" Target="../media/image-10-5.svg"/><Relationship Id="rId6" Type="http://schemas.openxmlformats.org/officeDocument/2006/relationships/image" Target="../media/image-10-6.png"/><Relationship Id="rId7" Type="http://schemas.openxmlformats.org/officeDocument/2006/relationships/image" Target="../media/image-10-7.svg"/><Relationship Id="rId8" Type="http://schemas.openxmlformats.org/officeDocument/2006/relationships/slideLayout" Target="../slideLayouts/slideLayout11.xml"/><Relationship Id="rId9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svg"/><Relationship Id="rId4" Type="http://schemas.openxmlformats.org/officeDocument/2006/relationships/image" Target="../media/image-11-4.png"/><Relationship Id="rId5" Type="http://schemas.openxmlformats.org/officeDocument/2006/relationships/image" Target="../media/image-11-5.svg"/><Relationship Id="rId6" Type="http://schemas.openxmlformats.org/officeDocument/2006/relationships/slideLayout" Target="../slideLayouts/slideLayout12.xml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0"/>
            <a:ext cx="5486400" cy="8229600"/>
          </a:xfrm>
          <a:prstGeom prst="rect">
            <a:avLst/>
          </a:prstGeom>
          <a:solidFill>
            <a:srgbClr val="F2EEEE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67349" y="621625"/>
            <a:ext cx="5239583" cy="698623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3798" y="2346127"/>
            <a:ext cx="5609749" cy="701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ICC Companion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863798" y="3146108"/>
            <a:ext cx="7416403" cy="70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 Web-Based Student Portal &amp; College Management System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863798" y="4217551"/>
            <a:ext cx="7416403" cy="37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b="1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Submitted By:</a:t>
            </a:r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Abhishek Sharma (UT-231-049-0004)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863798" y="4865370"/>
            <a:ext cx="7416403" cy="37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b="1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Guided By:</a:t>
            </a:r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Manas Chakraborty, Dept. of BCA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863798" y="5513189"/>
            <a:ext cx="7416403" cy="37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ICON Commerce College · 2026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00" cy="8229600"/>
          </a:xfrm>
          <a:prstGeom prst="rect">
            <a:avLst/>
          </a:prstGeom>
          <a:solidFill>
            <a:srgbClr val="F2EEEE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349" y="621625"/>
            <a:ext cx="5239583" cy="698623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350198" y="735806"/>
            <a:ext cx="5609749" cy="701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Introduction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6350198" y="1807250"/>
            <a:ext cx="7416403" cy="2719864"/>
          </a:xfrm>
          <a:prstGeom prst="roundRect">
            <a:avLst>
              <a:gd name="adj" fmla="val 1361"/>
            </a:avLst>
          </a:prstGeom>
          <a:solidFill>
            <a:srgbClr val="F2EEEE"/>
          </a:solidFill>
          <a:ln/>
        </p:spPr>
      </p:sp>
      <p:sp>
        <p:nvSpPr>
          <p:cNvPr id="6" name="Shape 3"/>
          <p:cNvSpPr/>
          <p:nvPr/>
        </p:nvSpPr>
        <p:spPr>
          <a:xfrm>
            <a:off x="6597015" y="2054066"/>
            <a:ext cx="740450" cy="740450"/>
          </a:xfrm>
          <a:prstGeom prst="roundRect">
            <a:avLst>
              <a:gd name="adj" fmla="val 12348012"/>
            </a:avLst>
          </a:prstGeom>
          <a:solidFill>
            <a:srgbClr val="2D2E34"/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00612" y="2257663"/>
            <a:ext cx="333137" cy="33313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597015" y="3041333"/>
            <a:ext cx="2804874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Objective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6597015" y="3539966"/>
            <a:ext cx="6922770" cy="740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Replace manual, paper-based processes with real-time digital system for transparency and efficiency.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6350198" y="4773930"/>
            <a:ext cx="7416403" cy="2719864"/>
          </a:xfrm>
          <a:prstGeom prst="roundRect">
            <a:avLst>
              <a:gd name="adj" fmla="val 1361"/>
            </a:avLst>
          </a:prstGeom>
          <a:solidFill>
            <a:srgbClr val="F2EEEE"/>
          </a:solidFill>
          <a:ln/>
        </p:spPr>
      </p:sp>
      <p:sp>
        <p:nvSpPr>
          <p:cNvPr id="11" name="Shape 7"/>
          <p:cNvSpPr/>
          <p:nvPr/>
        </p:nvSpPr>
        <p:spPr>
          <a:xfrm>
            <a:off x="6597015" y="5020747"/>
            <a:ext cx="740450" cy="740450"/>
          </a:xfrm>
          <a:prstGeom prst="roundRect">
            <a:avLst>
              <a:gd name="adj" fmla="val 12348012"/>
            </a:avLst>
          </a:prstGeom>
          <a:solidFill>
            <a:srgbClr val="2D2E34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800612" y="5224343"/>
            <a:ext cx="333137" cy="333137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597015" y="6008013"/>
            <a:ext cx="2804874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Target Users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6597015" y="6506647"/>
            <a:ext cx="6922770" cy="740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Students (BCA, BBA, BA, B.Com), Faculty managing classes, and College administrators.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0"/>
            <a:ext cx="5486400" cy="8229600"/>
          </a:xfrm>
          <a:prstGeom prst="rect">
            <a:avLst/>
          </a:prstGeom>
          <a:solidFill>
            <a:srgbClr val="F2EEEE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67349" y="621625"/>
            <a:ext cx="5239583" cy="698623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3798" y="1688663"/>
            <a:ext cx="5768340" cy="701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Problem Statement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863798" y="3006923"/>
            <a:ext cx="3332202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Existing System Issues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863798" y="3604379"/>
            <a:ext cx="3407093" cy="2850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900"/>
              </a:lnSpc>
              <a:buSzPct val="100000"/>
              <a:buChar char="•"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Paper registers — errors and delays</a:t>
            </a:r>
            <a:endParaRPr lang="en-US" sz="1900" dirty="0"/>
          </a:p>
          <a:p>
            <a:pPr marL="342900" indent="-342900" algn="l">
              <a:lnSpc>
                <a:spcPts val="2900"/>
              </a:lnSpc>
              <a:buSzPct val="100000"/>
              <a:buChar char="•"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Notices via WhatsApp — easily missed</a:t>
            </a:r>
            <a:endParaRPr lang="en-US" sz="1900" dirty="0"/>
          </a:p>
          <a:p>
            <a:pPr marL="342900" indent="-342900" algn="l">
              <a:lnSpc>
                <a:spcPts val="2900"/>
              </a:lnSpc>
              <a:buSzPct val="100000"/>
              <a:buChar char="•"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No centralized resource hub</a:t>
            </a:r>
            <a:endParaRPr lang="en-US" sz="1900" dirty="0"/>
          </a:p>
          <a:p>
            <a:pPr marL="342900" indent="-342900" algn="l">
              <a:lnSpc>
                <a:spcPts val="2900"/>
              </a:lnSpc>
              <a:buSzPct val="100000"/>
              <a:buChar char="•"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No real-time attendance visibility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4880729" y="3006923"/>
            <a:ext cx="2804874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Problem Definition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880729" y="3604379"/>
            <a:ext cx="3407093" cy="2220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"Design and develop a secure, user-friendly web portal that automates attendance tracking, centralizes academic resources, and provides real-time analytics for students and faculty."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2355" y="626150"/>
            <a:ext cx="7700367" cy="602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700"/>
              </a:lnSpc>
              <a:buNone/>
            </a:pPr>
            <a:r>
              <a:rPr lang="en-US" sz="3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Proposed System &amp; Objectives</a:t>
            </a:r>
            <a:endParaRPr lang="en-US" sz="37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2355" y="1593294"/>
            <a:ext cx="530185" cy="53018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2355" y="2351246"/>
            <a:ext cx="2647712" cy="3013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Attendance Tracking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742355" y="2761893"/>
            <a:ext cx="6458903" cy="5917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6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Subject-wise real-time attendance with color-coded bars and 75% threshold alerts.</a:t>
            </a:r>
            <a:endParaRPr lang="en-US" sz="16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29024" y="1593294"/>
            <a:ext cx="530185" cy="53018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429024" y="2351246"/>
            <a:ext cx="2410420" cy="3013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Resource Library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7429024" y="2761893"/>
            <a:ext cx="6459022" cy="5917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6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Upload &amp; download syllabus, notes, books — filtered by department &amp; semester.</a:t>
            </a:r>
            <a:endParaRPr lang="en-US" sz="16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42355" y="3718203"/>
            <a:ext cx="530185" cy="53018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42355" y="4476155"/>
            <a:ext cx="2410420" cy="3013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Exam Schedules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742355" y="4886801"/>
            <a:ext cx="6458903" cy="5917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6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View sessional and final exam timetables with subject, date, time, room details.</a:t>
            </a:r>
            <a:endParaRPr lang="en-US" sz="16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429024" y="3718203"/>
            <a:ext cx="530185" cy="530185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7429024" y="4476155"/>
            <a:ext cx="2410420" cy="3013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Class Routines</a:t>
            </a:r>
            <a:endParaRPr lang="en-US" sz="1850" dirty="0"/>
          </a:p>
        </p:txBody>
      </p:sp>
      <p:sp>
        <p:nvSpPr>
          <p:cNvPr id="14" name="Text 8"/>
          <p:cNvSpPr/>
          <p:nvPr/>
        </p:nvSpPr>
        <p:spPr>
          <a:xfrm>
            <a:off x="7429024" y="4886801"/>
            <a:ext cx="6459022" cy="5917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6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Department-wise weekly class routine PDFs uploaded and managed by administrators.</a:t>
            </a:r>
            <a:endParaRPr lang="en-US" sz="165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42355" y="5843111"/>
            <a:ext cx="530185" cy="530185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742355" y="6601063"/>
            <a:ext cx="2410420" cy="3013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Lost &amp; Found</a:t>
            </a:r>
            <a:endParaRPr lang="en-US" sz="1850" dirty="0"/>
          </a:p>
        </p:txBody>
      </p:sp>
      <p:sp>
        <p:nvSpPr>
          <p:cNvPr id="17" name="Text 10"/>
          <p:cNvSpPr/>
          <p:nvPr/>
        </p:nvSpPr>
        <p:spPr>
          <a:xfrm>
            <a:off x="742355" y="7011710"/>
            <a:ext cx="6458903" cy="5917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6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Report lost items or post found items with category, location, claim status tracking.</a:t>
            </a:r>
            <a:endParaRPr lang="en-US" sz="165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429024" y="5843111"/>
            <a:ext cx="530185" cy="530185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7429024" y="6601063"/>
            <a:ext cx="2410420" cy="3013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Announcements</a:t>
            </a:r>
            <a:endParaRPr lang="en-US" sz="1850" dirty="0"/>
          </a:p>
        </p:txBody>
      </p:sp>
      <p:sp>
        <p:nvSpPr>
          <p:cNvPr id="20" name="Text 12"/>
          <p:cNvSpPr/>
          <p:nvPr/>
        </p:nvSpPr>
        <p:spPr>
          <a:xfrm>
            <a:off x="7429024" y="7011710"/>
            <a:ext cx="6459022" cy="5917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6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Priority-based notices (High/Medium/Low) targeted by department and semester.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3798" y="924044"/>
            <a:ext cx="5609749" cy="701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System Modules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863798" y="2118955"/>
            <a:ext cx="4136350" cy="5186601"/>
          </a:xfrm>
          <a:prstGeom prst="roundRect">
            <a:avLst>
              <a:gd name="adj" fmla="val 895"/>
            </a:avLst>
          </a:prstGeom>
          <a:solidFill>
            <a:srgbClr val="FFFFFF"/>
          </a:solidFill>
          <a:ln w="30480">
            <a:solidFill>
              <a:srgbClr val="D8D4D4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94278" y="2149435"/>
            <a:ext cx="4075390" cy="740450"/>
          </a:xfrm>
          <a:prstGeom prst="roundRect">
            <a:avLst>
              <a:gd name="adj" fmla="val 61"/>
            </a:avLst>
          </a:prstGeom>
          <a:solidFill>
            <a:srgbClr val="F2EEEE"/>
          </a:solidFill>
          <a:ln/>
        </p:spPr>
        <p:txBody>
          <a:bodyPr/>
          <a:p/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6891" y="2334578"/>
            <a:ext cx="370165" cy="3701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41095" y="3136702"/>
            <a:ext cx="2804874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Student Portal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1141095" y="3635335"/>
            <a:ext cx="3581757" cy="3109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900"/>
              </a:lnSpc>
              <a:buSzPct val="100000"/>
              <a:buChar char="•"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Login with Roll Number &amp; DOB</a:t>
            </a:r>
            <a:endParaRPr lang="en-US" sz="1900" dirty="0"/>
          </a:p>
          <a:p>
            <a:pPr marL="342900" indent="-342900" algn="l">
              <a:lnSpc>
                <a:spcPts val="2900"/>
              </a:lnSpc>
              <a:buSzPct val="100000"/>
              <a:buChar char="•"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View subject-wise attendance</a:t>
            </a:r>
            <a:endParaRPr lang="en-US" sz="1900" dirty="0"/>
          </a:p>
          <a:p>
            <a:pPr marL="342900" indent="-342900" algn="l">
              <a:lnSpc>
                <a:spcPts val="2900"/>
              </a:lnSpc>
              <a:buSzPct val="100000"/>
              <a:buChar char="•"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Download notes &amp; resources</a:t>
            </a:r>
            <a:endParaRPr lang="en-US" sz="1900" dirty="0"/>
          </a:p>
          <a:p>
            <a:pPr marL="342900" indent="-342900" algn="l">
              <a:lnSpc>
                <a:spcPts val="2900"/>
              </a:lnSpc>
              <a:buSzPct val="100000"/>
              <a:buChar char="•"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View exam timetables</a:t>
            </a:r>
            <a:endParaRPr lang="en-US" sz="1900" dirty="0"/>
          </a:p>
          <a:p>
            <a:pPr marL="342900" indent="-342900" algn="l">
              <a:lnSpc>
                <a:spcPts val="2900"/>
              </a:lnSpc>
              <a:buSzPct val="100000"/>
              <a:buChar char="•"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Check class routines</a:t>
            </a:r>
            <a:endParaRPr lang="en-US" sz="1900" dirty="0"/>
          </a:p>
          <a:p>
            <a:pPr marL="342900" indent="-342900" algn="l">
              <a:lnSpc>
                <a:spcPts val="2900"/>
              </a:lnSpc>
              <a:buSzPct val="100000"/>
              <a:buChar char="•"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Browse announcements</a:t>
            </a:r>
            <a:endParaRPr lang="en-US" sz="1900" dirty="0"/>
          </a:p>
          <a:p>
            <a:pPr marL="342900" indent="-342900" algn="l">
              <a:lnSpc>
                <a:spcPts val="2900"/>
              </a:lnSpc>
              <a:buSzPct val="100000"/>
              <a:buChar char="•"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Report/view lost &amp; found items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5246965" y="2118955"/>
            <a:ext cx="4136350" cy="5186601"/>
          </a:xfrm>
          <a:prstGeom prst="roundRect">
            <a:avLst>
              <a:gd name="adj" fmla="val 895"/>
            </a:avLst>
          </a:prstGeom>
          <a:solidFill>
            <a:srgbClr val="FFFFFF"/>
          </a:solidFill>
          <a:ln w="30480">
            <a:solidFill>
              <a:srgbClr val="D8D4D4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5277445" y="2149435"/>
            <a:ext cx="4075390" cy="740450"/>
          </a:xfrm>
          <a:prstGeom prst="roundRect">
            <a:avLst>
              <a:gd name="adj" fmla="val 61"/>
            </a:avLst>
          </a:prstGeom>
          <a:solidFill>
            <a:srgbClr val="F2EEEE"/>
          </a:solidFill>
          <a:ln/>
        </p:spPr>
        <p:txBody>
          <a:bodyPr/>
          <a:p/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30058" y="2334578"/>
            <a:ext cx="370165" cy="37016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524262" y="3136702"/>
            <a:ext cx="2804874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Admin Portal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5524262" y="3635335"/>
            <a:ext cx="3581757" cy="37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pPr marL="0" indent="0" algn="l">
              <a:lnSpc>
                <a:spcPts val="2900"/>
              </a:lnSpc>
              <a:buNone/>
            </a:pPr>
            <a:endParaRPr lang="en-US" sz="1900" dirty="0"/>
            <a:r>
              <a:rPr sz="1830">
                <a:ea typeface="Source Sans 3"/>
                <a:latin typeface="Source Sans 3"/>
              </a:rPr>
              <a:t xml:space="preserve">3-Tier Access: Principal → HOD → Faculty</a:t>
            </a:r>
          </a:p>
        </p:txBody>
      </p:sp>
      <p:sp>
        <p:nvSpPr>
          <p:cNvPr id="13" name="Text 9"/>
          <p:cNvSpPr/>
          <p:nvPr/>
        </p:nvSpPr>
        <p:spPr>
          <a:xfrm>
            <a:off x="5524262" y="4153495"/>
            <a:ext cx="3581757" cy="25662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900"/>
              </a:lnSpc>
              <a:buSzPct val="100000"/>
              <a:buChar char="•"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Secure username/password login</a:t>
            </a:r>
            <a:endParaRPr lang="en-US" sz="1900" dirty="0"/>
          </a:p>
          <a:p>
            <a:pPr marL="342900" indent="-342900" algn="l">
              <a:lnSpc>
                <a:spcPts val="2900"/>
              </a:lnSpc>
              <a:buSzPct val="100000"/>
              <a:buChar char="•"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Mark daily attendance</a:t>
            </a:r>
            <a:endParaRPr lang="en-US" sz="1900" dirty="0"/>
          </a:p>
          <a:p>
            <a:pPr marL="342900" indent="-342900" algn="l">
              <a:lnSpc>
                <a:spcPts val="2900"/>
              </a:lnSpc>
              <a:buSzPct val="100000"/>
              <a:buChar char="•"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Manage students &amp; resources</a:t>
            </a:r>
            <a:endParaRPr lang="en-US" sz="1900" dirty="0"/>
          </a:p>
          <a:p>
            <a:pPr marL="342900" indent="-342900" algn="l">
              <a:lnSpc>
                <a:spcPts val="2900"/>
              </a:lnSpc>
              <a:buSzPct val="100000"/>
              <a:buChar char="•"/>
            </a:pPr>
            <a:endParaRPr lang="en-US" sz="1900" dirty="0"/>
            <a:r>
              <a:rPr sz="1830">
                <a:ea typeface="Source Sans 3"/>
                <a:latin typeface="Source Sans 3"/>
              </a:rPr>
              <a:t>Dept-Admin (HOD): Department-scoped management</a:t>
            </a:r>
          </a:p>
          <a:p>
            <a:pPr marL="342900" indent="-342900" algn="l">
              <a:lnSpc>
                <a:spcPts val="2900"/>
              </a:lnSpc>
              <a:buSzPct val="100000"/>
              <a:buChar char="•"/>
            </a:pPr>
            <a:endParaRPr lang="en-US" sz="1900" dirty="0"/>
            <a:r>
              <a:rPr sz="1830">
                <a:ea typeface="Source Sans 3"/>
                <a:latin typeface="Source Sans 3"/>
              </a:rPr>
              <a:t>Super-Admin (Principal): Full system-wide access</a:t>
            </a:r>
          </a:p>
        </p:txBody>
      </p:sp>
      <p:sp>
        <p:nvSpPr>
          <p:cNvPr id="14" name="Shape 10"/>
          <p:cNvSpPr/>
          <p:nvPr/>
        </p:nvSpPr>
        <p:spPr>
          <a:xfrm>
            <a:off x="9630132" y="2118955"/>
            <a:ext cx="4136350" cy="5186601"/>
          </a:xfrm>
          <a:prstGeom prst="roundRect">
            <a:avLst>
              <a:gd name="adj" fmla="val 895"/>
            </a:avLst>
          </a:prstGeom>
          <a:solidFill>
            <a:srgbClr val="FFFFFF"/>
          </a:solidFill>
          <a:ln w="30480">
            <a:solidFill>
              <a:srgbClr val="D8D4D4"/>
            </a:solidFill>
            <a:prstDash val="solid"/>
          </a:ln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9660612" y="2149435"/>
            <a:ext cx="4075390" cy="740450"/>
          </a:xfrm>
          <a:prstGeom prst="roundRect">
            <a:avLst>
              <a:gd name="adj" fmla="val 61"/>
            </a:avLst>
          </a:prstGeom>
          <a:solidFill>
            <a:srgbClr val="F2EEEE"/>
          </a:solidFill>
          <a:ln/>
        </p:spPr>
        <p:txBody>
          <a:bodyPr/>
          <a:p/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513225" y="2334578"/>
            <a:ext cx="370165" cy="37016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907429" y="3136702"/>
            <a:ext cx="3500438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Principal (Super Admin)</a:t>
            </a:r>
            <a:endParaRPr lang="en-US" sz="2200" dirty="0"/>
          </a:p>
        </p:txBody>
      </p:sp>
      <p:sp>
        <p:nvSpPr>
          <p:cNvPr id="18" name="Text 13"/>
          <p:cNvSpPr/>
          <p:nvPr/>
        </p:nvSpPr>
        <p:spPr>
          <a:xfrm>
            <a:off x="9907429" y="3635335"/>
            <a:ext cx="3581757" cy="3392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900"/>
              </a:lnSpc>
              <a:buSzPct val="100000"/>
              <a:buChar char="•"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All HOD &amp; Faculty privileges</a:t>
            </a:r>
            <a:endParaRPr lang="en-US" sz="1900" dirty="0"/>
          </a:p>
          <a:p>
            <a:pPr marL="342900" indent="-342900" algn="l">
              <a:lnSpc>
                <a:spcPts val="2900"/>
              </a:lnSpc>
              <a:buSzPct val="100000"/>
              <a:buChar char="•"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Add/Edit/Delete faculty accounts</a:t>
            </a:r>
            <a:endParaRPr lang="en-US" sz="1900" dirty="0"/>
          </a:p>
          <a:p>
            <a:pPr marL="342900" indent="-342900" algn="l">
              <a:lnSpc>
                <a:spcPts val="2900"/>
              </a:lnSpc>
              <a:buSzPct val="100000"/>
              <a:buChar char="•"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Manage departments</a:t>
            </a:r>
            <a:endParaRPr lang="en-US" sz="1900" dirty="0"/>
          </a:p>
          <a:p>
            <a:pPr marL="342900" indent="-342900" algn="l">
              <a:lnSpc>
                <a:spcPts val="2900"/>
              </a:lnSpc>
              <a:buSzPct val="100000"/>
              <a:buChar char="•"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Manage exams, routines, announcements</a:t>
            </a:r>
            <a:endParaRPr lang="en-US" sz="1900" dirty="0"/>
          </a:p>
          <a:p>
            <a:pPr marL="342900" indent="-342900" algn="l">
              <a:lnSpc>
                <a:spcPts val="2900"/>
              </a:lnSpc>
              <a:buSzPct val="100000"/>
              <a:buChar char="•"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Assign subjects to faculty</a:t>
            </a:r>
            <a:endParaRPr lang="en-US" sz="1900" dirty="0"/>
          </a:p>
          <a:p>
            <a:pPr marL="342900" indent="-342900" algn="l">
              <a:lnSpc>
                <a:spcPts val="2900"/>
              </a:lnSpc>
              <a:buSzPct val="100000"/>
              <a:buChar char="•"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Full CRUD over all data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3798" y="1846421"/>
            <a:ext cx="5609749" cy="701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Technology Stack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863798" y="3041333"/>
            <a:ext cx="4136350" cy="1732598"/>
          </a:xfrm>
          <a:prstGeom prst="roundRect">
            <a:avLst>
              <a:gd name="adj" fmla="val 2137"/>
            </a:avLst>
          </a:prstGeom>
          <a:solidFill>
            <a:srgbClr val="F2EEEE"/>
          </a:solidFill>
          <a:ln/>
        </p:spPr>
      </p:sp>
      <p:sp>
        <p:nvSpPr>
          <p:cNvPr id="4" name="Text 2"/>
          <p:cNvSpPr/>
          <p:nvPr/>
        </p:nvSpPr>
        <p:spPr>
          <a:xfrm>
            <a:off x="1110615" y="3288149"/>
            <a:ext cx="2804874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Frontend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10615" y="3786783"/>
            <a:ext cx="3642717" cy="740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HTML5, CSS3 (Custom Properties, Flexbox, Grid), JavaScript (ES6)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246965" y="3041333"/>
            <a:ext cx="4136350" cy="1732598"/>
          </a:xfrm>
          <a:prstGeom prst="roundRect">
            <a:avLst>
              <a:gd name="adj" fmla="val 2137"/>
            </a:avLst>
          </a:prstGeom>
          <a:solidFill>
            <a:srgbClr val="F2EEEE"/>
          </a:solidFill>
          <a:ln/>
        </p:spPr>
      </p:sp>
      <p:sp>
        <p:nvSpPr>
          <p:cNvPr id="7" name="Text 5"/>
          <p:cNvSpPr/>
          <p:nvPr/>
        </p:nvSpPr>
        <p:spPr>
          <a:xfrm>
            <a:off x="5493782" y="3288149"/>
            <a:ext cx="2804874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Backend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93782" y="3786783"/>
            <a:ext cx="3642717" cy="740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PHP (Server-side scripting via XAMPP Apache)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9630132" y="3041333"/>
            <a:ext cx="4136350" cy="1732598"/>
          </a:xfrm>
          <a:prstGeom prst="roundRect">
            <a:avLst>
              <a:gd name="adj" fmla="val 2137"/>
            </a:avLst>
          </a:prstGeom>
          <a:solidFill>
            <a:srgbClr val="F2EEEE"/>
          </a:solidFill>
          <a:ln/>
        </p:spPr>
      </p:sp>
      <p:sp>
        <p:nvSpPr>
          <p:cNvPr id="10" name="Text 8"/>
          <p:cNvSpPr/>
          <p:nvPr/>
        </p:nvSpPr>
        <p:spPr>
          <a:xfrm>
            <a:off x="9876949" y="3288149"/>
            <a:ext cx="2804874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Database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876949" y="3786783"/>
            <a:ext cx="3642717" cy="740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MySQL (managed through phpMyAdmin via XAMPP)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863798" y="5020747"/>
            <a:ext cx="6327934" cy="1362432"/>
          </a:xfrm>
          <a:prstGeom prst="roundRect">
            <a:avLst>
              <a:gd name="adj" fmla="val 2718"/>
            </a:avLst>
          </a:prstGeom>
          <a:solidFill>
            <a:srgbClr val="F2EEEE"/>
          </a:solidFill>
          <a:ln/>
        </p:spPr>
      </p:sp>
      <p:sp>
        <p:nvSpPr>
          <p:cNvPr id="13" name="Text 11"/>
          <p:cNvSpPr/>
          <p:nvPr/>
        </p:nvSpPr>
        <p:spPr>
          <a:xfrm>
            <a:off x="1110615" y="5267563"/>
            <a:ext cx="2804874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Local Server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110615" y="5766197"/>
            <a:ext cx="5834301" cy="37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XAMPP (Apache + MySQL + PHP bundle)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7438549" y="5020747"/>
            <a:ext cx="6327934" cy="1362432"/>
          </a:xfrm>
          <a:prstGeom prst="roundRect">
            <a:avLst>
              <a:gd name="adj" fmla="val 2718"/>
            </a:avLst>
          </a:prstGeom>
          <a:solidFill>
            <a:srgbClr val="F2EEEE"/>
          </a:solidFill>
          <a:ln/>
        </p:spPr>
      </p:sp>
      <p:sp>
        <p:nvSpPr>
          <p:cNvPr id="16" name="Text 14"/>
          <p:cNvSpPr/>
          <p:nvPr/>
        </p:nvSpPr>
        <p:spPr>
          <a:xfrm>
            <a:off x="7685365" y="5267563"/>
            <a:ext cx="2804874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Design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685365" y="5766197"/>
            <a:ext cx="5834301" cy="37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Mobile-first responsive layout, CSS variables for theming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3798" y="1102400"/>
            <a:ext cx="6018609" cy="701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System Architecture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63798" y="2297311"/>
            <a:ext cx="12902803" cy="37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Application follows </a:t>
            </a:r>
            <a:pPr marL="0" indent="0" algn="l">
              <a:lnSpc>
                <a:spcPts val="2900"/>
              </a:lnSpc>
              <a:buNone/>
            </a:pPr>
            <a:r>
              <a:rPr lang="en-US" sz="1900" b="1" dirty="0">
                <a:solidFill>
                  <a:srgbClr val="BE49D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3-Tier Architecture</a:t>
            </a:r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(Client → Server → Database).</a:t>
            </a:r>
            <a:endParaRPr lang="en-US" sz="19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798" y="2945130"/>
            <a:ext cx="4300895" cy="98726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10615" y="4179213"/>
            <a:ext cx="2804874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Presentation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110615" y="4677847"/>
            <a:ext cx="3807262" cy="37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HTML · CSS · JS</a:t>
            </a:r>
            <a:endParaRPr lang="en-US" sz="19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4693" y="2945130"/>
            <a:ext cx="4300895" cy="98726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11510" y="4179213"/>
            <a:ext cx="2804874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Application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5411510" y="4677847"/>
            <a:ext cx="3807262" cy="37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PHP · XAMPP Apache</a:t>
            </a:r>
            <a:endParaRPr lang="en-US" sz="19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5588" y="2945130"/>
            <a:ext cx="4301014" cy="98726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712404" y="4179213"/>
            <a:ext cx="2804874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Data</a:t>
            </a:r>
            <a:endParaRPr lang="en-US" sz="2200" dirty="0"/>
          </a:p>
        </p:txBody>
      </p:sp>
      <p:sp>
        <p:nvSpPr>
          <p:cNvPr id="12" name="Text 7"/>
          <p:cNvSpPr/>
          <p:nvPr/>
        </p:nvSpPr>
        <p:spPr>
          <a:xfrm>
            <a:off x="9712404" y="4677847"/>
            <a:ext cx="3807381" cy="37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MySQL · phpMyAdmin</a:t>
            </a:r>
            <a:endParaRPr lang="en-US" sz="1900" dirty="0"/>
          </a:p>
        </p:txBody>
      </p:sp>
      <p:sp>
        <p:nvSpPr>
          <p:cNvPr id="13" name="Text 8"/>
          <p:cNvSpPr/>
          <p:nvPr/>
        </p:nvSpPr>
        <p:spPr>
          <a:xfrm>
            <a:off x="863798" y="5794534"/>
            <a:ext cx="3898940" cy="740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b="1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Client:</a:t>
            </a:r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Responsive web pages served to any browser (mobile or desktop).</a:t>
            </a:r>
            <a:endParaRPr lang="en-US" sz="1900" dirty="0"/>
          </a:p>
        </p:txBody>
      </p:sp>
      <p:sp>
        <p:nvSpPr>
          <p:cNvPr id="14" name="Text 9"/>
          <p:cNvSpPr/>
          <p:nvPr/>
        </p:nvSpPr>
        <p:spPr>
          <a:xfrm>
            <a:off x="5372576" y="5794534"/>
            <a:ext cx="3898940" cy="740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b="1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Server:</a:t>
            </a:r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PHP handles authentication, CRUD operations, and file uploads.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9881354" y="5794534"/>
            <a:ext cx="3898940" cy="1110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b="1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Database:</a:t>
            </a:r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MySQL stores students, attendance, resources, announcements, and more.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13836" y="556855"/>
            <a:ext cx="3769043" cy="4711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700"/>
              </a:lnSpc>
              <a:buNone/>
            </a:pPr>
            <a:r>
              <a:rPr lang="en-US" sz="29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Database Design</a:t>
            </a:r>
            <a:endParaRPr lang="en-US" sz="2950" dirty="0"/>
          </a:p>
        </p:txBody>
      </p:sp>
      <p:sp>
        <p:nvSpPr>
          <p:cNvPr id="3" name="Text 1"/>
          <p:cNvSpPr/>
          <p:nvPr/>
        </p:nvSpPr>
        <p:spPr>
          <a:xfrm>
            <a:off x="2113836" y="1250752"/>
            <a:ext cx="10402610" cy="2078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BE49D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campus_portal</a:t>
            </a:r>
            <a:pPr marL="0" indent="0" algn="l">
              <a:lnSpc>
                <a:spcPts val="1600"/>
              </a:lnSpc>
              <a:buNone/>
            </a:pPr>
            <a:r>
              <a:rPr lang="en-US" sz="13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database contains 11 normalized tables with foreign key constraints + 1 view.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113836" y="1583888"/>
            <a:ext cx="5145643" cy="887373"/>
          </a:xfrm>
          <a:prstGeom prst="roundRect">
            <a:avLst>
              <a:gd name="adj" fmla="val 2803"/>
            </a:avLst>
          </a:prstGeom>
          <a:solidFill>
            <a:srgbClr val="FFFFFF"/>
          </a:solidFill>
          <a:ln w="22860">
            <a:solidFill>
              <a:srgbClr val="D8D4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302431" y="1772483"/>
            <a:ext cx="1884521" cy="235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4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departments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2302431" y="2074783"/>
            <a:ext cx="4768453" cy="2078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3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dept_id · dept_code · dept_name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70802" y="1583888"/>
            <a:ext cx="5145643" cy="887373"/>
          </a:xfrm>
          <a:prstGeom prst="roundRect">
            <a:avLst>
              <a:gd name="adj" fmla="val 2803"/>
            </a:avLst>
          </a:prstGeom>
          <a:solidFill>
            <a:srgbClr val="FFFFFF"/>
          </a:solidFill>
          <a:ln w="22860">
            <a:solidFill>
              <a:srgbClr val="D8D4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559397" y="1772483"/>
            <a:ext cx="1884521" cy="235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4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students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559397" y="2074783"/>
            <a:ext cx="4768453" cy="2078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3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student_id · roll_number · name · dob · dept_code · semester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113836" y="2582585"/>
            <a:ext cx="5145643" cy="887373"/>
          </a:xfrm>
          <a:prstGeom prst="roundRect">
            <a:avLst>
              <a:gd name="adj" fmla="val 2803"/>
            </a:avLst>
          </a:prstGeom>
          <a:solidFill>
            <a:srgbClr val="FFFFFF"/>
          </a:solidFill>
          <a:ln w="22860">
            <a:solidFill>
              <a:srgbClr val="D8D4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02431" y="2771180"/>
            <a:ext cx="1884521" cy="235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4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admins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2302431" y="3073479"/>
            <a:ext cx="4768453" cy="2078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3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admin_id · username · password · name · role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70802" y="2582585"/>
            <a:ext cx="5145643" cy="887373"/>
          </a:xfrm>
          <a:prstGeom prst="roundRect">
            <a:avLst>
              <a:gd name="adj" fmla="val 2803"/>
            </a:avLst>
          </a:prstGeom>
          <a:solidFill>
            <a:srgbClr val="FFFFFF"/>
          </a:solidFill>
          <a:ln w="22860">
            <a:solidFill>
              <a:srgbClr val="D8D4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59397" y="2771180"/>
            <a:ext cx="1884521" cy="235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4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subjects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559397" y="3073479"/>
            <a:ext cx="4768453" cy="2078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3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subject_id · subject_code · subject_name · dept_code · semester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113836" y="3581281"/>
            <a:ext cx="5145643" cy="887373"/>
          </a:xfrm>
          <a:prstGeom prst="roundRect">
            <a:avLst>
              <a:gd name="adj" fmla="val 2803"/>
            </a:avLst>
          </a:prstGeom>
          <a:solidFill>
            <a:srgbClr val="FFFFFF"/>
          </a:solidFill>
          <a:ln w="22860">
            <a:solidFill>
              <a:srgbClr val="D8D4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302431" y="3769876"/>
            <a:ext cx="1884521" cy="235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4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attendance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2302431" y="4072176"/>
            <a:ext cx="4768453" cy="2078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3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attendance_id · roll_number (FK) · subject_id (FK) · date · status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70802" y="3581281"/>
            <a:ext cx="5145643" cy="887373"/>
          </a:xfrm>
          <a:prstGeom prst="roundRect">
            <a:avLst>
              <a:gd name="adj" fmla="val 2803"/>
            </a:avLst>
          </a:prstGeom>
          <a:solidFill>
            <a:srgbClr val="FFFFFF"/>
          </a:solidFill>
          <a:ln w="22860">
            <a:solidFill>
              <a:srgbClr val="D8D4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59397" y="3769876"/>
            <a:ext cx="1884521" cy="235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4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resources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7559397" y="4072176"/>
            <a:ext cx="4768453" cy="2078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3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resource_id · title · type · file_url · dept_code · semester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113836" y="4579977"/>
            <a:ext cx="5145643" cy="887373"/>
          </a:xfrm>
          <a:prstGeom prst="roundRect">
            <a:avLst>
              <a:gd name="adj" fmla="val 2803"/>
            </a:avLst>
          </a:prstGeom>
          <a:solidFill>
            <a:srgbClr val="FFFFFF"/>
          </a:solidFill>
          <a:ln w="22860">
            <a:solidFill>
              <a:srgbClr val="D8D4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302431" y="4768572"/>
            <a:ext cx="1884521" cy="235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4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announcements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2302431" y="5070872"/>
            <a:ext cx="4768453" cy="2078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3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announcement_id · title · priority · target_dept · target_semester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370802" y="4579977"/>
            <a:ext cx="5145643" cy="887373"/>
          </a:xfrm>
          <a:prstGeom prst="roundRect">
            <a:avLst>
              <a:gd name="adj" fmla="val 2803"/>
            </a:avLst>
          </a:prstGeom>
          <a:solidFill>
            <a:srgbClr val="FFFFFF"/>
          </a:solidFill>
          <a:ln w="22860">
            <a:solidFill>
              <a:srgbClr val="D8D4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59397" y="4768572"/>
            <a:ext cx="1884521" cy="235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4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exams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7559397" y="5070872"/>
            <a:ext cx="4768453" cy="2078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3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exam_id · subject_id (FK) · exam_date · time · room · exam_type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113836" y="5578673"/>
            <a:ext cx="5145643" cy="887373"/>
          </a:xfrm>
          <a:prstGeom prst="roundRect">
            <a:avLst>
              <a:gd name="adj" fmla="val 2803"/>
            </a:avLst>
          </a:prstGeom>
          <a:solidFill>
            <a:srgbClr val="FFFFFF"/>
          </a:solidFill>
          <a:ln w="22860">
            <a:solidFill>
              <a:srgbClr val="D8D4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02431" y="5767268"/>
            <a:ext cx="1884521" cy="235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4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exam_schedules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2302431" y="6069568"/>
            <a:ext cx="4768453" cy="2078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3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schedule_id · schedule_type (sessional/final) · file_url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370802" y="5578673"/>
            <a:ext cx="5145643" cy="887373"/>
          </a:xfrm>
          <a:prstGeom prst="roundRect">
            <a:avLst>
              <a:gd name="adj" fmla="val 2803"/>
            </a:avLst>
          </a:prstGeom>
          <a:solidFill>
            <a:srgbClr val="FFFFFF"/>
          </a:solidFill>
          <a:ln w="22860">
            <a:solidFill>
              <a:srgbClr val="D8D4D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559397" y="5767268"/>
            <a:ext cx="1884521" cy="235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4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class_routines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7559397" y="6069568"/>
            <a:ext cx="4768453" cy="2078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3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routine_id · title · file_url · dept_code · semester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113836" y="6577370"/>
            <a:ext cx="5145643" cy="1095256"/>
          </a:xfrm>
          <a:prstGeom prst="roundRect">
            <a:avLst>
              <a:gd name="adj" fmla="val 2271"/>
            </a:avLst>
          </a:prstGeom>
          <a:solidFill>
            <a:srgbClr val="FFFFFF"/>
          </a:solidFill>
          <a:ln w="22860">
            <a:solidFill>
              <a:srgbClr val="D8D4D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302431" y="6765965"/>
            <a:ext cx="1884521" cy="235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4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lost_found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2302431" y="7068264"/>
            <a:ext cx="4768453" cy="2078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3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item_id · title · category · item_type · location · status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7370802" y="6577370"/>
            <a:ext cx="5145643" cy="1095256"/>
          </a:xfrm>
          <a:prstGeom prst="roundRect">
            <a:avLst>
              <a:gd name="adj" fmla="val 2271"/>
            </a:avLst>
          </a:prstGeom>
          <a:solidFill>
            <a:srgbClr val="FFFFFF"/>
          </a:solidFill>
          <a:ln w="22860">
            <a:solidFill>
              <a:srgbClr val="D8D4D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559397" y="6765965"/>
            <a:ext cx="3030022" cy="235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4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student_attendance_summary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7559397" y="7068264"/>
            <a:ext cx="4768453" cy="4157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3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VIEW — pre-computed attendance percentages per student per subject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08998" y="596027"/>
            <a:ext cx="4207312" cy="5258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100"/>
              </a:lnSpc>
              <a:buNone/>
            </a:pPr>
            <a:r>
              <a:rPr lang="en-US" sz="3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Security Features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1508998" y="1399580"/>
            <a:ext cx="416481" cy="416481"/>
          </a:xfrm>
          <a:prstGeom prst="roundRect">
            <a:avLst>
              <a:gd name="adj" fmla="val 6667"/>
            </a:avLst>
          </a:prstGeom>
          <a:solidFill>
            <a:srgbClr val="F2EEEE"/>
          </a:solidFill>
          <a:ln/>
        </p:spPr>
      </p:sp>
      <p:sp>
        <p:nvSpPr>
          <p:cNvPr id="4" name="Text 2"/>
          <p:cNvSpPr/>
          <p:nvPr/>
        </p:nvSpPr>
        <p:spPr>
          <a:xfrm>
            <a:off x="2064306" y="1463159"/>
            <a:ext cx="2103596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Role-Based Access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2064306" y="1809274"/>
            <a:ext cx="11056977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Students, Faculty, HOD, and Principal each have separate permissions and restricted views.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1508998" y="2329815"/>
            <a:ext cx="416481" cy="416481"/>
          </a:xfrm>
          <a:prstGeom prst="roundRect">
            <a:avLst>
              <a:gd name="adj" fmla="val 6667"/>
            </a:avLst>
          </a:prstGeom>
          <a:solidFill>
            <a:srgbClr val="F2EEEE"/>
          </a:solidFill>
          <a:ln/>
        </p:spPr>
      </p:sp>
      <p:sp>
        <p:nvSpPr>
          <p:cNvPr id="7" name="Text 5"/>
          <p:cNvSpPr/>
          <p:nvPr/>
        </p:nvSpPr>
        <p:spPr>
          <a:xfrm>
            <a:off x="2064306" y="2393394"/>
            <a:ext cx="2373154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Session Management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2064306" y="2739509"/>
            <a:ext cx="11056977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PHP sessions to maintain login state and prevent unauthorized access.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1508998" y="3260050"/>
            <a:ext cx="416481" cy="416481"/>
          </a:xfrm>
          <a:prstGeom prst="roundRect">
            <a:avLst>
              <a:gd name="adj" fmla="val 6667"/>
            </a:avLst>
          </a:prstGeom>
          <a:solidFill>
            <a:srgbClr val="F2EEEE"/>
          </a:solidFill>
          <a:ln/>
        </p:spPr>
      </p:sp>
      <p:sp>
        <p:nvSpPr>
          <p:cNvPr id="10" name="Text 8"/>
          <p:cNvSpPr/>
          <p:nvPr/>
        </p:nvSpPr>
        <p:spPr>
          <a:xfrm>
            <a:off x="2064306" y="3323630"/>
            <a:ext cx="2103596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Input Validation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2064306" y="3669744"/>
            <a:ext cx="11056977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Server-side validation on all forms to prevent SQL injection and XSS.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1508998" y="4190286"/>
            <a:ext cx="416481" cy="416481"/>
          </a:xfrm>
          <a:prstGeom prst="roundRect">
            <a:avLst>
              <a:gd name="adj" fmla="val 6667"/>
            </a:avLst>
          </a:prstGeom>
          <a:solidFill>
            <a:srgbClr val="F2EEEE"/>
          </a:solidFill>
          <a:ln/>
        </p:spPr>
      </p:sp>
      <p:sp>
        <p:nvSpPr>
          <p:cNvPr id="13" name="Text 11"/>
          <p:cNvSpPr/>
          <p:nvPr/>
        </p:nvSpPr>
        <p:spPr>
          <a:xfrm>
            <a:off x="2064306" y="4253865"/>
            <a:ext cx="2167295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Secure File Uploads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2064306" y="4599980"/>
            <a:ext cx="11056977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File type and size restrictions on PDF and image uploads.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1508998" y="5120521"/>
            <a:ext cx="416481" cy="416481"/>
          </a:xfrm>
          <a:prstGeom prst="roundRect">
            <a:avLst>
              <a:gd name="adj" fmla="val 6667"/>
            </a:avLst>
          </a:prstGeom>
          <a:solidFill>
            <a:srgbClr val="F2EEEE"/>
          </a:solidFill>
          <a:ln/>
        </p:spPr>
      </p:sp>
      <p:sp>
        <p:nvSpPr>
          <p:cNvPr id="16" name="Text 14"/>
          <p:cNvSpPr/>
          <p:nvPr/>
        </p:nvSpPr>
        <p:spPr>
          <a:xfrm>
            <a:off x="2064306" y="5184100"/>
            <a:ext cx="2289691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Password Protection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2064306" y="5530215"/>
            <a:ext cx="11056977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Admin credentials stored securely in the database.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1508998" y="6050756"/>
            <a:ext cx="416481" cy="416481"/>
          </a:xfrm>
          <a:prstGeom prst="roundRect">
            <a:avLst>
              <a:gd name="adj" fmla="val 6667"/>
            </a:avLst>
          </a:prstGeom>
          <a:solidFill>
            <a:srgbClr val="F2EEEE"/>
          </a:solidFill>
          <a:ln/>
        </p:spPr>
      </p:sp>
      <p:sp>
        <p:nvSpPr>
          <p:cNvPr id="19" name="Text 17"/>
          <p:cNvSpPr/>
          <p:nvPr/>
        </p:nvSpPr>
        <p:spPr>
          <a:xfrm>
            <a:off x="2064306" y="6114336"/>
            <a:ext cx="2103596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Student Auth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2064306" y="6460450"/>
            <a:ext cx="11056977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Login via Roll Number + Date of Birth — no complex passwords needed.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1508998" y="6980992"/>
            <a:ext cx="416481" cy="416481"/>
          </a:xfrm>
          <a:prstGeom prst="roundRect">
            <a:avLst>
              <a:gd name="adj" fmla="val 6667"/>
            </a:avLst>
          </a:prstGeom>
          <a:solidFill>
            <a:srgbClr val="F2EEEE"/>
          </a:solidFill>
          <a:ln/>
        </p:spPr>
      </p:sp>
      <p:sp>
        <p:nvSpPr>
          <p:cNvPr id="22" name="Text 20"/>
          <p:cNvSpPr/>
          <p:nvPr/>
        </p:nvSpPr>
        <p:spPr>
          <a:xfrm>
            <a:off x="2064306" y="7044571"/>
            <a:ext cx="2114312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Unique Constraints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2064306" y="7390686"/>
            <a:ext cx="11056977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4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Database-level enforcement to prevent duplicate attendance entries.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2836" y="824270"/>
            <a:ext cx="5083850" cy="6354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000"/>
              </a:lnSpc>
              <a:buNone/>
            </a:pPr>
            <a:r>
              <a:rPr lang="en-US" sz="40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Testing</a:t>
            </a:r>
            <a:endParaRPr lang="en-US" sz="4000" dirty="0"/>
          </a:p>
        </p:txBody>
      </p:sp>
      <p:sp>
        <p:nvSpPr>
          <p:cNvPr id="4" name="Shape 1"/>
          <p:cNvSpPr/>
          <p:nvPr/>
        </p:nvSpPr>
        <p:spPr>
          <a:xfrm>
            <a:off x="782836" y="1763673"/>
            <a:ext cx="3687842" cy="3039308"/>
          </a:xfrm>
          <a:prstGeom prst="roundRect">
            <a:avLst>
              <a:gd name="adj" fmla="val 1104"/>
            </a:avLst>
          </a:prstGeom>
          <a:solidFill>
            <a:srgbClr val="F2EEEE"/>
          </a:solidFill>
          <a:ln/>
        </p:spPr>
      </p:sp>
      <p:sp>
        <p:nvSpPr>
          <p:cNvPr id="5" name="Shape 2"/>
          <p:cNvSpPr/>
          <p:nvPr/>
        </p:nvSpPr>
        <p:spPr>
          <a:xfrm>
            <a:off x="1006435" y="1987272"/>
            <a:ext cx="671036" cy="671036"/>
          </a:xfrm>
          <a:prstGeom prst="roundRect">
            <a:avLst>
              <a:gd name="adj" fmla="val 13625328"/>
            </a:avLst>
          </a:prstGeom>
          <a:solidFill>
            <a:srgbClr val="2D2E34"/>
          </a:solidFill>
          <a:ln/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90982" y="2171819"/>
            <a:ext cx="301943" cy="30194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06435" y="2860953"/>
            <a:ext cx="2541865" cy="3176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Unit Testing</a:t>
            </a:r>
            <a:endParaRPr lang="en-US" sz="2000" dirty="0"/>
          </a:p>
        </p:txBody>
      </p:sp>
      <p:sp>
        <p:nvSpPr>
          <p:cNvPr id="8" name="Text 4"/>
          <p:cNvSpPr/>
          <p:nvPr/>
        </p:nvSpPr>
        <p:spPr>
          <a:xfrm>
            <a:off x="1006435" y="3300174"/>
            <a:ext cx="3240643" cy="1279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7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Tested individual modules — login validation, attendance percentage calculation, PDF upload handling, and CRUD operations on all tables.</a:t>
            </a:r>
            <a:endParaRPr lang="en-US" sz="1750" dirty="0"/>
          </a:p>
        </p:txBody>
      </p:sp>
      <p:sp>
        <p:nvSpPr>
          <p:cNvPr id="9" name="Shape 5"/>
          <p:cNvSpPr/>
          <p:nvPr/>
        </p:nvSpPr>
        <p:spPr>
          <a:xfrm>
            <a:off x="4673322" y="1763673"/>
            <a:ext cx="3687842" cy="3039308"/>
          </a:xfrm>
          <a:prstGeom prst="roundRect">
            <a:avLst>
              <a:gd name="adj" fmla="val 1104"/>
            </a:avLst>
          </a:prstGeom>
          <a:solidFill>
            <a:srgbClr val="F2EEEE"/>
          </a:solidFill>
          <a:ln/>
        </p:spPr>
      </p:sp>
      <p:sp>
        <p:nvSpPr>
          <p:cNvPr id="10" name="Shape 6"/>
          <p:cNvSpPr/>
          <p:nvPr/>
        </p:nvSpPr>
        <p:spPr>
          <a:xfrm>
            <a:off x="4896922" y="1987272"/>
            <a:ext cx="671036" cy="671036"/>
          </a:xfrm>
          <a:prstGeom prst="roundRect">
            <a:avLst>
              <a:gd name="adj" fmla="val 13625328"/>
            </a:avLst>
          </a:prstGeom>
          <a:solidFill>
            <a:srgbClr val="2D2E34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81468" y="2171819"/>
            <a:ext cx="301943" cy="30194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896922" y="2860953"/>
            <a:ext cx="2541865" cy="3176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Integration Testing</a:t>
            </a:r>
            <a:endParaRPr lang="en-US" sz="2000" dirty="0"/>
          </a:p>
        </p:txBody>
      </p:sp>
      <p:sp>
        <p:nvSpPr>
          <p:cNvPr id="13" name="Text 8"/>
          <p:cNvSpPr/>
          <p:nvPr/>
        </p:nvSpPr>
        <p:spPr>
          <a:xfrm>
            <a:off x="4896922" y="3300174"/>
            <a:ext cx="3240643" cy="1279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7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Verified end-to-end flows: admin marks attendance → database updates → student dashboard reflects the change instantly.</a:t>
            </a:r>
            <a:endParaRPr lang="en-US" sz="1750" dirty="0"/>
          </a:p>
        </p:txBody>
      </p:sp>
      <p:sp>
        <p:nvSpPr>
          <p:cNvPr id="14" name="Shape 9"/>
          <p:cNvSpPr/>
          <p:nvPr/>
        </p:nvSpPr>
        <p:spPr>
          <a:xfrm>
            <a:off x="782836" y="5005626"/>
            <a:ext cx="7578328" cy="2399705"/>
          </a:xfrm>
          <a:prstGeom prst="roundRect">
            <a:avLst>
              <a:gd name="adj" fmla="val 1398"/>
            </a:avLst>
          </a:prstGeom>
          <a:solidFill>
            <a:srgbClr val="F2EEEE"/>
          </a:solidFill>
          <a:ln/>
        </p:spPr>
      </p:sp>
      <p:sp>
        <p:nvSpPr>
          <p:cNvPr id="15" name="Shape 10"/>
          <p:cNvSpPr/>
          <p:nvPr/>
        </p:nvSpPr>
        <p:spPr>
          <a:xfrm>
            <a:off x="1006435" y="5229225"/>
            <a:ext cx="671036" cy="671036"/>
          </a:xfrm>
          <a:prstGeom prst="roundRect">
            <a:avLst>
              <a:gd name="adj" fmla="val 13625328"/>
            </a:avLst>
          </a:prstGeom>
          <a:solidFill>
            <a:srgbClr val="2D2E34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90982" y="5413772"/>
            <a:ext cx="301943" cy="301943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006435" y="6102906"/>
            <a:ext cx="3097768" cy="3176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UI / Responsive Testing</a:t>
            </a:r>
            <a:endParaRPr lang="en-US" sz="2000" dirty="0"/>
          </a:p>
        </p:txBody>
      </p:sp>
      <p:sp>
        <p:nvSpPr>
          <p:cNvPr id="18" name="Text 12"/>
          <p:cNvSpPr/>
          <p:nvPr/>
        </p:nvSpPr>
        <p:spPr>
          <a:xfrm>
            <a:off x="1006435" y="6542127"/>
            <a:ext cx="7131129" cy="63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7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Tested across Chrome, Firefox, and mobile browsers. Ensured all pages render correctly on phones, tablets, and desktops.</a:t>
            </a:r>
            <a:endParaRPr lang="en-US" sz="1750" dirty="0"/>
          </a:p>
        </p:txBody>
      </p:sp>
    </p:spTree>
  </p:cSld>
  <p:clrMapOvr>
    <a:masterClrMapping/>
  </p:clrMapOvr>
</p:sld>
</file>

<file path=ppt/slides/slide1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36890" y="690801"/>
            <a:ext cx="7470219" cy="1358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300"/>
              </a:lnSpc>
              <a:buNone/>
            </a:pPr>
            <a:r>
              <a:rPr lang="en-US" sz="42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Limitations &amp; Future Scope</a:t>
            </a:r>
            <a:endParaRPr lang="en-US" sz="4250" dirty="0"/>
          </a:p>
        </p:txBody>
      </p:sp>
      <p:sp>
        <p:nvSpPr>
          <p:cNvPr id="4" name="Shape 1"/>
          <p:cNvSpPr/>
          <p:nvPr/>
        </p:nvSpPr>
        <p:spPr>
          <a:xfrm>
            <a:off x="836890" y="2396728"/>
            <a:ext cx="7470219" cy="2238256"/>
          </a:xfrm>
          <a:prstGeom prst="roundRect">
            <a:avLst>
              <a:gd name="adj" fmla="val 1602"/>
            </a:avLst>
          </a:prstGeom>
          <a:solidFill>
            <a:srgbClr val="FFFFFF"/>
          </a:solidFill>
          <a:ln w="30480">
            <a:solidFill>
              <a:srgbClr val="D8D4D4"/>
            </a:solidFill>
            <a:prstDash val="solid"/>
          </a:ln>
        </p:spPr>
        <p:txBody>
          <a:bodyPr/>
          <a:p/>
        </p:txBody>
      </p:sp>
      <p:sp>
        <p:nvSpPr>
          <p:cNvPr id="5" name="Shape 2"/>
          <p:cNvSpPr/>
          <p:nvPr/>
        </p:nvSpPr>
        <p:spPr>
          <a:xfrm>
            <a:off x="867370" y="2427208"/>
            <a:ext cx="956429" cy="2177296"/>
          </a:xfrm>
          <a:prstGeom prst="rect">
            <a:avLst/>
          </a:prstGeom>
          <a:solidFill>
            <a:srgbClr val="F2EEEE"/>
          </a:solidFill>
          <a:ln/>
        </p:spPr>
        <p:txBody>
          <a:bodyPr/>
          <a:p/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6217" y="3336488"/>
            <a:ext cx="358616" cy="35861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055376" y="2666286"/>
            <a:ext cx="2766893" cy="3395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Current Limitations</a:t>
            </a:r>
            <a:endParaRPr lang="en-US" sz="2100" dirty="0"/>
          </a:p>
        </p:txBody>
      </p:sp>
      <p:sp>
        <p:nvSpPr>
          <p:cNvPr id="8" name="Text 4"/>
          <p:cNvSpPr/>
          <p:nvPr/>
        </p:nvSpPr>
        <p:spPr>
          <a:xfrm>
            <a:off x="2055376" y="3144798"/>
            <a:ext cx="5982176" cy="1220629"/>
          </a:xfrm>
          <a:prstGeom prst="rect">
            <a:avLst/>
          </a:prstGeom>
          <a:noFill/>
          <a:ln/>
        </p:spPr>
        <p:txBody>
          <a:bodyPr wrap="square" lIns="0" tIns="0" rIns="0" bIns="0" rtlCol="0" anchor="t" autofitType="shrink">
            <a:shrinkToFit/>
          </a:bodyPr>
          <a:lstStyle/>
          <a:p>
            <a:pPr>
              <a:buChar char="•"/>
            </a:pPr>
            <a:r>
              <a:rPr sz="1860">
                <a:ea typeface="Source Sans 3"/>
                <a:latin typeface="Source Sans 3"/>
              </a:rPr>
              <a:t xml:space="preserve">No WebSocket connections — manual browser refresh required</a:t>
            </a:r>
          </a:p>
          <a:p>
            <a:pPr>
              <a:buChar char="•"/>
            </a:pPr>
            <a:r>
              <a:rPr sz="1860">
                <a:ea typeface="Source Sans 3"/>
                <a:latin typeface="Source Sans 3"/>
              </a:rPr>
              <a:t xml:space="preserve">No real-time push notifications for timely alerts</a:t>
            </a:r>
          </a:p>
          <a:p>
            <a:pPr>
              <a:buChar char="•"/>
            </a:pPr>
            <a:r>
              <a:rPr sz="1860">
                <a:ea typeface="Source Sans 3"/>
                <a:latin typeface="Source Sans 3"/>
              </a:rPr>
              <a:t xml:space="preserve">No SMS or email notification integrations</a:t>
            </a:r>
          </a:p>
          <a:p>
            <a:pPr>
              <a:buChar char="•"/>
            </a:pPr>
            <a:r>
              <a:rPr sz="1860">
                <a:ea typeface="Source Sans 3"/>
                <a:latin typeface="Source Sans 3"/>
              </a:rPr>
              <a:t xml:space="preserve">Users must log into the portal to check updates</a:t>
            </a:r>
          </a:p>
        </p:txBody>
      </p:sp>
      <p:sp>
        <p:nvSpPr>
          <p:cNvPr id="9" name="Shape 5"/>
          <p:cNvSpPr/>
          <p:nvPr/>
        </p:nvSpPr>
        <p:spPr>
          <a:xfrm>
            <a:off x="836890" y="4866561"/>
            <a:ext cx="7470219" cy="2672120"/>
          </a:xfrm>
          <a:prstGeom prst="roundRect">
            <a:avLst>
              <a:gd name="adj" fmla="val 1342"/>
            </a:avLst>
          </a:prstGeom>
          <a:solidFill>
            <a:srgbClr val="FFFFFF"/>
          </a:solidFill>
          <a:ln w="30480">
            <a:solidFill>
              <a:srgbClr val="D8D4D4"/>
            </a:solidFill>
            <a:prstDash val="solid"/>
          </a:ln>
        </p:spPr>
        <p:txBody>
          <a:bodyPr/>
          <a:p/>
        </p:txBody>
      </p:sp>
      <p:sp>
        <p:nvSpPr>
          <p:cNvPr id="10" name="Shape 6"/>
          <p:cNvSpPr/>
          <p:nvPr/>
        </p:nvSpPr>
        <p:spPr>
          <a:xfrm>
            <a:off x="867370" y="4897041"/>
            <a:ext cx="956429" cy="2611160"/>
          </a:xfrm>
          <a:prstGeom prst="rect">
            <a:avLst/>
          </a:prstGeom>
          <a:solidFill>
            <a:srgbClr val="F2EEEE"/>
          </a:solidFill>
          <a:ln/>
        </p:spPr>
        <p:txBody>
          <a:bodyPr/>
          <a:p/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66217" y="6023253"/>
            <a:ext cx="358616" cy="35861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2055376" y="5136118"/>
            <a:ext cx="3175159" cy="3395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b="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Future Enhancements</a:t>
            </a:r>
            <a:endParaRPr lang="en-US" sz="2100" dirty="0"/>
          </a:p>
        </p:txBody>
      </p:sp>
      <p:sp>
        <p:nvSpPr>
          <p:cNvPr id="13" name="Text 8"/>
          <p:cNvSpPr/>
          <p:nvPr/>
        </p:nvSpPr>
        <p:spPr>
          <a:xfrm>
            <a:off x="2055376" y="5614630"/>
            <a:ext cx="5982176" cy="1654493"/>
          </a:xfrm>
          <a:prstGeom prst="rect">
            <a:avLst/>
          </a:prstGeom>
          <a:noFill/>
          <a:ln/>
        </p:spPr>
        <p:txBody>
          <a:bodyPr wrap="square" lIns="0" tIns="0" rIns="0" bIns="0" rtlCol="0" anchor="t" autofitType="shrink">
            <a:shrinkToFit/>
          </a:bodyPr>
          <a:lstStyle/>
          <a:p>
            <a:pPr>
              <a:buChar char="•"/>
            </a:pPr>
            <a:r>
              <a:rPr sz="1550">
                <a:ea typeface="Source Sans 3"/>
                <a:latin typeface="Source Sans 3"/>
              </a:rPr>
              <a:t xml:space="preserve">Real-time notifications via PHPMailer &amp; Twilio SMS gateways</a:t>
            </a:r>
          </a:p>
          <a:p>
            <a:pPr>
              <a:buChar char="•"/>
            </a:pPr>
            <a:r>
              <a:rPr sz="1550">
                <a:ea typeface="Source Sans 3"/>
                <a:latin typeface="Source Sans 3"/>
              </a:rPr>
              <a:t xml:space="preserve">Mobile apps built with Flutter (Android &amp; iOS)</a:t>
            </a:r>
          </a:p>
          <a:p>
            <a:pPr>
              <a:buChar char="•"/>
            </a:pPr>
            <a:r>
              <a:rPr sz="1550">
                <a:ea typeface="Source Sans 3"/>
                <a:latin typeface="Source Sans 3"/>
              </a:rPr>
              <a:t xml:space="preserve">Analytics dashboard with Chart.js visualizations</a:t>
            </a:r>
          </a:p>
          <a:p>
            <a:pPr>
              <a:buChar char="•"/>
            </a:pPr>
            <a:r>
              <a:rPr sz="1550">
                <a:ea typeface="Source Sans 3"/>
                <a:latin typeface="Source Sans 3"/>
              </a:rPr>
              <a:t xml:space="preserve">AI-powered insights for attendance &amp; engagement trends</a:t>
            </a:r>
          </a:p>
          <a:p>
            <a:pPr>
              <a:buChar char="•"/>
            </a:pPr>
            <a:r>
              <a:rPr sz="1550">
                <a:ea typeface="Source Sans 3"/>
                <a:latin typeface="Source Sans 3"/>
              </a:rPr>
              <a:t xml:space="preserve">Automated timetable conflict checker</a:t>
            </a:r>
          </a:p>
          <a:p>
            <a:pPr>
              <a:buChar char="•"/>
            </a:pPr>
            <a:r>
              <a:rPr sz="1550">
                <a:ea typeface="Source Sans 3"/>
                <a:latin typeface="Source Sans 3"/>
              </a:rPr>
              <a:t xml:space="preserve">Biometric / Aadhaar-based authentication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350198" y="792837"/>
            <a:ext cx="5609749" cy="701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Conclusion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6350198" y="1864281"/>
            <a:ext cx="7416403" cy="1480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ICC Companion successfully digitizes the academic workflow at ICON Commerce College — replacing manual attendance registers, scattered WhatsApp notices, and disorganized resources with a single, transparent, real-time platform for students, faculty, and administrators.</a:t>
            </a:r>
            <a:endParaRPr lang="en-US" sz="1900" dirty="0"/>
          </a:p>
        </p:txBody>
      </p:sp>
      <p:sp>
        <p:nvSpPr>
          <p:cNvPr id="5" name="Text 2"/>
          <p:cNvSpPr/>
          <p:nvPr/>
        </p:nvSpPr>
        <p:spPr>
          <a:xfrm>
            <a:off x="6350198" y="3715107"/>
            <a:ext cx="7416403" cy="14023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000"/>
              </a:lnSpc>
              <a:buNone/>
            </a:pPr>
            <a:r>
              <a:rPr lang="en-US" sz="88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Thank You</a:t>
            </a:r>
            <a:endParaRPr lang="en-US" sz="8800" dirty="0"/>
          </a:p>
        </p:txBody>
      </p:sp>
      <p:sp>
        <p:nvSpPr>
          <p:cNvPr id="6" name="Text 3"/>
          <p:cNvSpPr/>
          <p:nvPr/>
        </p:nvSpPr>
        <p:spPr>
          <a:xfrm>
            <a:off x="6350198" y="5487591"/>
            <a:ext cx="4573429" cy="560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Open for Questions</a:t>
            </a:r>
            <a:endParaRPr lang="en-US" sz="3500" dirty="0"/>
          </a:p>
        </p:txBody>
      </p:sp>
      <p:sp>
        <p:nvSpPr>
          <p:cNvPr id="7" name="Text 4"/>
          <p:cNvSpPr/>
          <p:nvPr/>
        </p:nvSpPr>
        <p:spPr>
          <a:xfrm>
            <a:off x="6350198" y="6418659"/>
            <a:ext cx="7416403" cy="37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ICC Companion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6350198" y="7066478"/>
            <a:ext cx="7416403" cy="37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ICON Commerce College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2026-04-27T21:09:48Z</dcterms:created>
  <dcterms:modified xsi:type="dcterms:W3CDTF">2026-04-27T21:09:48Z</dcterms:modified>
</cp:coreProperties>
</file>